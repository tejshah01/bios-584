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43891200" cy="32918400"/>
  <p:notesSz cx="6858000" cy="9144000"/>
  <p:embeddedFontLst>
    <p:embeddedFont>
      <p:font typeface="Calibri" panose="020F0502020204030204" pitchFamily="34" charset="0"/>
      <p:regular r:id="rId3"/>
      <p:bold r:id="rId4"/>
      <p:italic r:id="rId5"/>
      <p:boldItalic r:id="rId6"/>
    </p:embeddedFont>
    <p:embeddedFont>
      <p:font typeface="Calibri (MS)" panose="020F0502020204030204" pitchFamily="34" charset="0"/>
      <p:regular r:id="rId7"/>
    </p:embeddedFont>
    <p:embeddedFont>
      <p:font typeface="Calibri (MS) Bold" panose="020F0702030404030204" pitchFamily="34" charset="0"/>
      <p:regular r:id="rId8"/>
      <p:bold r:id="rId9"/>
    </p:embeddedFont>
    <p:embeddedFont>
      <p:font typeface="TT Rounds Condensed Bold" panose="02000806030000020003" pitchFamily="2" charset="77"/>
      <p:regular r:id="rId10"/>
      <p:bold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854" autoAdjust="0"/>
    <p:restoredTop sz="94605" autoAdjust="0"/>
  </p:normalViewPr>
  <p:slideViewPr>
    <p:cSldViewPr>
      <p:cViewPr>
        <p:scale>
          <a:sx n="30" d="100"/>
          <a:sy n="30" d="100"/>
        </p:scale>
        <p:origin x="1704" y="-92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6.fntdata"/><Relationship Id="rId13" Type="http://schemas.openxmlformats.org/officeDocument/2006/relationships/viewProps" Target="viewProps.xml"/><Relationship Id="rId3" Type="http://schemas.openxmlformats.org/officeDocument/2006/relationships/font" Target="fonts/font1.fntdata"/><Relationship Id="rId7" Type="http://schemas.openxmlformats.org/officeDocument/2006/relationships/font" Target="fonts/font5.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4.fntdata"/><Relationship Id="rId11" Type="http://schemas.openxmlformats.org/officeDocument/2006/relationships/font" Target="fonts/font9.fntdata"/><Relationship Id="rId5" Type="http://schemas.openxmlformats.org/officeDocument/2006/relationships/font" Target="fonts/font3.fntdata"/><Relationship Id="rId15" Type="http://schemas.openxmlformats.org/officeDocument/2006/relationships/tableStyles" Target="tableStyles.xml"/><Relationship Id="rId10" Type="http://schemas.openxmlformats.org/officeDocument/2006/relationships/font" Target="fonts/font8.fntdata"/><Relationship Id="rId4" Type="http://schemas.openxmlformats.org/officeDocument/2006/relationships/font" Target="fonts/font2.fntdata"/><Relationship Id="rId9" Type="http://schemas.openxmlformats.org/officeDocument/2006/relationships/font" Target="fonts/font7.fntdata"/><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2169"/>
        </a:solidFill>
        <a:effectLst/>
      </p:bgPr>
    </p:bg>
    <p:spTree>
      <p:nvGrpSpPr>
        <p:cNvPr id="1" name=""/>
        <p:cNvGrpSpPr/>
        <p:nvPr/>
      </p:nvGrpSpPr>
      <p:grpSpPr>
        <a:xfrm>
          <a:off x="0" y="0"/>
          <a:ext cx="0" cy="0"/>
          <a:chOff x="0" y="0"/>
          <a:chExt cx="0" cy="0"/>
        </a:xfrm>
      </p:grpSpPr>
      <p:sp>
        <p:nvSpPr>
          <p:cNvPr id="2" name="Freeform 2"/>
          <p:cNvSpPr/>
          <p:nvPr/>
        </p:nvSpPr>
        <p:spPr>
          <a:xfrm>
            <a:off x="14467957" y="7155919"/>
            <a:ext cx="14404178" cy="1198597"/>
          </a:xfrm>
          <a:custGeom>
            <a:avLst/>
            <a:gdLst/>
            <a:ahLst/>
            <a:cxnLst/>
            <a:rect l="l" t="t" r="r" b="b"/>
            <a:pathLst>
              <a:path w="14404178" h="1198597">
                <a:moveTo>
                  <a:pt x="0" y="0"/>
                </a:moveTo>
                <a:lnTo>
                  <a:pt x="14404178" y="0"/>
                </a:lnTo>
                <a:lnTo>
                  <a:pt x="14404178" y="1198598"/>
                </a:lnTo>
                <a:lnTo>
                  <a:pt x="0" y="1198598"/>
                </a:lnTo>
                <a:lnTo>
                  <a:pt x="0" y="0"/>
                </a:lnTo>
                <a:close/>
              </a:path>
            </a:pathLst>
          </a:custGeom>
          <a:blipFill>
            <a:blip r:embed="rId2"/>
            <a:stretch>
              <a:fillRect t="-106311" r="-8365" b="-222899"/>
            </a:stretch>
          </a:blipFill>
        </p:spPr>
      </p:sp>
      <p:grpSp>
        <p:nvGrpSpPr>
          <p:cNvPr id="3" name="Group 3"/>
          <p:cNvGrpSpPr/>
          <p:nvPr/>
        </p:nvGrpSpPr>
        <p:grpSpPr>
          <a:xfrm>
            <a:off x="14070543" y="6789472"/>
            <a:ext cx="14404178" cy="1315889"/>
            <a:chOff x="0" y="0"/>
            <a:chExt cx="17071619" cy="1559572"/>
          </a:xfrm>
        </p:grpSpPr>
        <p:sp>
          <p:nvSpPr>
            <p:cNvPr id="4" name="Freeform 4"/>
            <p:cNvSpPr/>
            <p:nvPr/>
          </p:nvSpPr>
          <p:spPr>
            <a:xfrm>
              <a:off x="0" y="0"/>
              <a:ext cx="17071594" cy="1559560"/>
            </a:xfrm>
            <a:custGeom>
              <a:avLst/>
              <a:gdLst/>
              <a:ahLst/>
              <a:cxnLst/>
              <a:rect l="l" t="t" r="r" b="b"/>
              <a:pathLst>
                <a:path w="17071594" h="1559560">
                  <a:moveTo>
                    <a:pt x="0" y="0"/>
                  </a:moveTo>
                  <a:lnTo>
                    <a:pt x="17071594" y="0"/>
                  </a:lnTo>
                  <a:lnTo>
                    <a:pt x="17071594" y="1559560"/>
                  </a:lnTo>
                  <a:lnTo>
                    <a:pt x="0" y="1559560"/>
                  </a:lnTo>
                  <a:close/>
                </a:path>
              </a:pathLst>
            </a:custGeom>
            <a:solidFill>
              <a:srgbClr val="F2A900"/>
            </a:solidFill>
          </p:spPr>
        </p:sp>
        <p:sp>
          <p:nvSpPr>
            <p:cNvPr id="5" name="TextBox 5"/>
            <p:cNvSpPr txBox="1"/>
            <p:nvPr/>
          </p:nvSpPr>
          <p:spPr>
            <a:xfrm>
              <a:off x="0" y="0"/>
              <a:ext cx="17071619" cy="1559572"/>
            </a:xfrm>
            <a:prstGeom prst="rect">
              <a:avLst/>
            </a:prstGeom>
          </p:spPr>
          <p:txBody>
            <a:bodyPr lIns="57150" tIns="57150" rIns="57150" bIns="57150" rtlCol="0" anchor="t"/>
            <a:lstStyle/>
            <a:p>
              <a:pPr algn="ctr">
                <a:lnSpc>
                  <a:spcPts val="7087"/>
                </a:lnSpc>
              </a:pPr>
              <a:r>
                <a:rPr lang="en-US" sz="5906" spc="55">
                  <a:solidFill>
                    <a:srgbClr val="000000"/>
                  </a:solidFill>
                  <a:latin typeface="TT Rounds Condensed Bold"/>
                </a:rPr>
                <a:t>Results</a:t>
              </a:r>
            </a:p>
            <a:p>
              <a:pPr algn="ctr">
                <a:lnSpc>
                  <a:spcPts val="7087"/>
                </a:lnSpc>
              </a:pPr>
              <a:endParaRPr lang="en-US" sz="5906" spc="55">
                <a:solidFill>
                  <a:srgbClr val="000000"/>
                </a:solidFill>
                <a:latin typeface="TT Rounds Condensed Bold"/>
              </a:endParaRPr>
            </a:p>
          </p:txBody>
        </p:sp>
      </p:grpSp>
      <p:grpSp>
        <p:nvGrpSpPr>
          <p:cNvPr id="6" name="Group 6"/>
          <p:cNvGrpSpPr/>
          <p:nvPr/>
        </p:nvGrpSpPr>
        <p:grpSpPr>
          <a:xfrm>
            <a:off x="15112516" y="8581611"/>
            <a:ext cx="12320232" cy="9634368"/>
            <a:chOff x="0" y="0"/>
            <a:chExt cx="14601756" cy="11418511"/>
          </a:xfrm>
        </p:grpSpPr>
        <p:sp>
          <p:nvSpPr>
            <p:cNvPr id="7" name="Freeform 7"/>
            <p:cNvSpPr/>
            <p:nvPr/>
          </p:nvSpPr>
          <p:spPr>
            <a:xfrm>
              <a:off x="0" y="0"/>
              <a:ext cx="14601698" cy="11418570"/>
            </a:xfrm>
            <a:custGeom>
              <a:avLst/>
              <a:gdLst/>
              <a:ahLst/>
              <a:cxnLst/>
              <a:rect l="l" t="t" r="r" b="b"/>
              <a:pathLst>
                <a:path w="14601698" h="11418570">
                  <a:moveTo>
                    <a:pt x="0" y="0"/>
                  </a:moveTo>
                  <a:lnTo>
                    <a:pt x="14601698" y="0"/>
                  </a:lnTo>
                  <a:lnTo>
                    <a:pt x="14601698" y="11418570"/>
                  </a:lnTo>
                  <a:lnTo>
                    <a:pt x="0" y="11418570"/>
                  </a:lnTo>
                  <a:close/>
                </a:path>
              </a:pathLst>
            </a:custGeom>
            <a:solidFill>
              <a:srgbClr val="FFFFFF">
                <a:alpha val="67843"/>
              </a:srgbClr>
            </a:solidFill>
          </p:spPr>
        </p:sp>
        <p:sp>
          <p:nvSpPr>
            <p:cNvPr id="8" name="TextBox 8"/>
            <p:cNvSpPr txBox="1"/>
            <p:nvPr/>
          </p:nvSpPr>
          <p:spPr>
            <a:xfrm>
              <a:off x="0" y="-114300"/>
              <a:ext cx="14601756" cy="11532811"/>
            </a:xfrm>
            <a:prstGeom prst="rect">
              <a:avLst/>
            </a:prstGeom>
          </p:spPr>
          <p:txBody>
            <a:bodyPr lIns="57150" tIns="57150" rIns="57150" bIns="57150" rtlCol="0" anchor="t"/>
            <a:lstStyle/>
            <a:p>
              <a:pPr algn="l">
                <a:lnSpc>
                  <a:spcPts val="6378"/>
                </a:lnSpc>
              </a:pPr>
              <a:r>
                <a:rPr lang="en-US" sz="5315" spc="49">
                  <a:solidFill>
                    <a:srgbClr val="000000"/>
                  </a:solidFill>
                  <a:latin typeface="Calibri (MS)"/>
                </a:rPr>
                <a:t>What is the central research problem or question you have been helping to explore?</a:t>
              </a:r>
            </a:p>
            <a:p>
              <a:pPr algn="l">
                <a:lnSpc>
                  <a:spcPts val="6378"/>
                </a:lnSpc>
              </a:pPr>
              <a:endParaRPr lang="en-US" sz="5315" spc="49">
                <a:solidFill>
                  <a:srgbClr val="000000"/>
                </a:solidFill>
                <a:latin typeface="Calibri (MS)"/>
              </a:endParaRPr>
            </a:p>
            <a:p>
              <a:pPr algn="l">
                <a:lnSpc>
                  <a:spcPts val="6378"/>
                </a:lnSpc>
              </a:pPr>
              <a:r>
                <a:rPr lang="en-US" sz="5315" spc="49">
                  <a:solidFill>
                    <a:srgbClr val="000000"/>
                  </a:solidFill>
                  <a:latin typeface="Calibri (MS)"/>
                </a:rPr>
                <a:t>What work has been done previously in this area?</a:t>
              </a:r>
            </a:p>
            <a:p>
              <a:pPr algn="l">
                <a:lnSpc>
                  <a:spcPts val="6378"/>
                </a:lnSpc>
              </a:pPr>
              <a:endParaRPr lang="en-US" sz="5315" spc="49">
                <a:solidFill>
                  <a:srgbClr val="000000"/>
                </a:solidFill>
                <a:latin typeface="Calibri (MS)"/>
              </a:endParaRPr>
            </a:p>
            <a:p>
              <a:pPr algn="l">
                <a:lnSpc>
                  <a:spcPts val="6378"/>
                </a:lnSpc>
              </a:pPr>
              <a:r>
                <a:rPr lang="en-US" sz="5315" spc="49">
                  <a:solidFill>
                    <a:srgbClr val="000000"/>
                  </a:solidFill>
                  <a:latin typeface="Calibri (MS)"/>
                </a:rPr>
                <a:t>This section can be a review of the literature that has been most important in your research area</a:t>
              </a:r>
            </a:p>
            <a:p>
              <a:pPr algn="l">
                <a:lnSpc>
                  <a:spcPts val="6378"/>
                </a:lnSpc>
              </a:pPr>
              <a:endParaRPr lang="en-US" sz="5315" spc="49">
                <a:solidFill>
                  <a:srgbClr val="000000"/>
                </a:solidFill>
                <a:latin typeface="Calibri (MS)"/>
              </a:endParaRPr>
            </a:p>
          </p:txBody>
        </p:sp>
      </p:grpSp>
      <p:sp>
        <p:nvSpPr>
          <p:cNvPr id="9" name="Freeform 9"/>
          <p:cNvSpPr/>
          <p:nvPr/>
        </p:nvSpPr>
        <p:spPr>
          <a:xfrm>
            <a:off x="1422291" y="7155919"/>
            <a:ext cx="12354746" cy="1198597"/>
          </a:xfrm>
          <a:custGeom>
            <a:avLst/>
            <a:gdLst/>
            <a:ahLst/>
            <a:cxnLst/>
            <a:rect l="l" t="t" r="r" b="b"/>
            <a:pathLst>
              <a:path w="12354746" h="1198597">
                <a:moveTo>
                  <a:pt x="0" y="0"/>
                </a:moveTo>
                <a:lnTo>
                  <a:pt x="12354746" y="0"/>
                </a:lnTo>
                <a:lnTo>
                  <a:pt x="12354746" y="1198598"/>
                </a:lnTo>
                <a:lnTo>
                  <a:pt x="0" y="1198598"/>
                </a:lnTo>
                <a:lnTo>
                  <a:pt x="0" y="0"/>
                </a:lnTo>
                <a:close/>
              </a:path>
            </a:pathLst>
          </a:custGeom>
          <a:blipFill>
            <a:blip r:embed="rId2"/>
            <a:stretch>
              <a:fillRect t="-84071" r="-8365" b="-184071"/>
            </a:stretch>
          </a:blipFill>
        </p:spPr>
      </p:sp>
      <p:grpSp>
        <p:nvGrpSpPr>
          <p:cNvPr id="10" name="Group 10"/>
          <p:cNvGrpSpPr/>
          <p:nvPr/>
        </p:nvGrpSpPr>
        <p:grpSpPr>
          <a:xfrm>
            <a:off x="1029997" y="6789472"/>
            <a:ext cx="12355566" cy="1363354"/>
            <a:chOff x="0" y="0"/>
            <a:chExt cx="14643633" cy="1615827"/>
          </a:xfrm>
        </p:grpSpPr>
        <p:sp>
          <p:nvSpPr>
            <p:cNvPr id="11" name="Freeform 11"/>
            <p:cNvSpPr/>
            <p:nvPr/>
          </p:nvSpPr>
          <p:spPr>
            <a:xfrm>
              <a:off x="0" y="0"/>
              <a:ext cx="14643608" cy="1615821"/>
            </a:xfrm>
            <a:custGeom>
              <a:avLst/>
              <a:gdLst/>
              <a:ahLst/>
              <a:cxnLst/>
              <a:rect l="l" t="t" r="r" b="b"/>
              <a:pathLst>
                <a:path w="14643608" h="1615821">
                  <a:moveTo>
                    <a:pt x="0" y="0"/>
                  </a:moveTo>
                  <a:lnTo>
                    <a:pt x="14643608" y="0"/>
                  </a:lnTo>
                  <a:lnTo>
                    <a:pt x="14643608" y="1615821"/>
                  </a:lnTo>
                  <a:lnTo>
                    <a:pt x="0" y="1615821"/>
                  </a:lnTo>
                  <a:close/>
                </a:path>
              </a:pathLst>
            </a:custGeom>
            <a:solidFill>
              <a:srgbClr val="F2A900"/>
            </a:solidFill>
          </p:spPr>
        </p:sp>
        <p:sp>
          <p:nvSpPr>
            <p:cNvPr id="12" name="TextBox 12"/>
            <p:cNvSpPr txBox="1"/>
            <p:nvPr/>
          </p:nvSpPr>
          <p:spPr>
            <a:xfrm>
              <a:off x="0" y="-123825"/>
              <a:ext cx="14643633" cy="1739652"/>
            </a:xfrm>
            <a:prstGeom prst="rect">
              <a:avLst/>
            </a:prstGeom>
          </p:spPr>
          <p:txBody>
            <a:bodyPr lIns="57150" tIns="57150" rIns="57150" bIns="57150" rtlCol="0" anchor="ctr"/>
            <a:lstStyle/>
            <a:p>
              <a:pPr algn="ctr">
                <a:lnSpc>
                  <a:spcPts val="7087"/>
                </a:lnSpc>
              </a:pPr>
              <a:r>
                <a:rPr lang="en-US" sz="5906" spc="55">
                  <a:solidFill>
                    <a:srgbClr val="000000"/>
                  </a:solidFill>
                  <a:latin typeface="Calibri (MS) Bold"/>
                </a:rPr>
                <a:t>Abstract/Intro/Motivation</a:t>
              </a:r>
            </a:p>
          </p:txBody>
        </p:sp>
      </p:grpSp>
      <p:sp>
        <p:nvSpPr>
          <p:cNvPr id="13" name="Freeform 13"/>
          <p:cNvSpPr/>
          <p:nvPr/>
        </p:nvSpPr>
        <p:spPr>
          <a:xfrm>
            <a:off x="1029997" y="19121142"/>
            <a:ext cx="12548332" cy="1570072"/>
          </a:xfrm>
          <a:custGeom>
            <a:avLst/>
            <a:gdLst/>
            <a:ahLst/>
            <a:cxnLst/>
            <a:rect l="l" t="t" r="r" b="b"/>
            <a:pathLst>
              <a:path w="12548332" h="1570072">
                <a:moveTo>
                  <a:pt x="0" y="0"/>
                </a:moveTo>
                <a:lnTo>
                  <a:pt x="12548332" y="0"/>
                </a:lnTo>
                <a:lnTo>
                  <a:pt x="12548332" y="1570073"/>
                </a:lnTo>
                <a:lnTo>
                  <a:pt x="0" y="1570073"/>
                </a:lnTo>
                <a:lnTo>
                  <a:pt x="0" y="0"/>
                </a:lnTo>
                <a:close/>
              </a:path>
            </a:pathLst>
          </a:custGeom>
          <a:blipFill>
            <a:blip r:embed="rId2"/>
            <a:stretch>
              <a:fillRect t="-57498" r="-24392" b="-170162"/>
            </a:stretch>
          </a:blipFill>
        </p:spPr>
      </p:sp>
      <p:grpSp>
        <p:nvGrpSpPr>
          <p:cNvPr id="14" name="Group 14"/>
          <p:cNvGrpSpPr/>
          <p:nvPr/>
        </p:nvGrpSpPr>
        <p:grpSpPr>
          <a:xfrm>
            <a:off x="1029997" y="19087315"/>
            <a:ext cx="12229688" cy="1363354"/>
            <a:chOff x="0" y="0"/>
            <a:chExt cx="14494445" cy="1615827"/>
          </a:xfrm>
        </p:grpSpPr>
        <p:sp>
          <p:nvSpPr>
            <p:cNvPr id="15" name="Freeform 15"/>
            <p:cNvSpPr/>
            <p:nvPr/>
          </p:nvSpPr>
          <p:spPr>
            <a:xfrm>
              <a:off x="0" y="0"/>
              <a:ext cx="14494421" cy="1615821"/>
            </a:xfrm>
            <a:custGeom>
              <a:avLst/>
              <a:gdLst/>
              <a:ahLst/>
              <a:cxnLst/>
              <a:rect l="l" t="t" r="r" b="b"/>
              <a:pathLst>
                <a:path w="14494421" h="1615821">
                  <a:moveTo>
                    <a:pt x="0" y="0"/>
                  </a:moveTo>
                  <a:lnTo>
                    <a:pt x="14494421" y="0"/>
                  </a:lnTo>
                  <a:lnTo>
                    <a:pt x="14494421" y="1615821"/>
                  </a:lnTo>
                  <a:lnTo>
                    <a:pt x="0" y="1615821"/>
                  </a:lnTo>
                  <a:close/>
                </a:path>
              </a:pathLst>
            </a:custGeom>
            <a:solidFill>
              <a:srgbClr val="F2A900"/>
            </a:solidFill>
          </p:spPr>
        </p:sp>
        <p:sp>
          <p:nvSpPr>
            <p:cNvPr id="16" name="TextBox 16"/>
            <p:cNvSpPr txBox="1"/>
            <p:nvPr/>
          </p:nvSpPr>
          <p:spPr>
            <a:xfrm>
              <a:off x="0" y="-123825"/>
              <a:ext cx="14494445" cy="1739652"/>
            </a:xfrm>
            <a:prstGeom prst="rect">
              <a:avLst/>
            </a:prstGeom>
          </p:spPr>
          <p:txBody>
            <a:bodyPr lIns="57150" tIns="57150" rIns="57150" bIns="57150" rtlCol="0" anchor="ctr"/>
            <a:lstStyle/>
            <a:p>
              <a:pPr algn="ctr">
                <a:lnSpc>
                  <a:spcPts val="7087"/>
                </a:lnSpc>
              </a:pPr>
              <a:r>
                <a:rPr lang="en-US" sz="5906" spc="55">
                  <a:solidFill>
                    <a:srgbClr val="000000"/>
                  </a:solidFill>
                  <a:latin typeface="Calibri (MS) Bold"/>
                </a:rPr>
                <a:t>Methods/Approach</a:t>
              </a:r>
            </a:p>
          </p:txBody>
        </p:sp>
      </p:grpSp>
      <p:sp>
        <p:nvSpPr>
          <p:cNvPr id="17" name="Freeform 17"/>
          <p:cNvSpPr/>
          <p:nvPr/>
        </p:nvSpPr>
        <p:spPr>
          <a:xfrm>
            <a:off x="28474721" y="7155919"/>
            <a:ext cx="14728235" cy="1198597"/>
          </a:xfrm>
          <a:custGeom>
            <a:avLst/>
            <a:gdLst/>
            <a:ahLst/>
            <a:cxnLst/>
            <a:rect l="l" t="t" r="r" b="b"/>
            <a:pathLst>
              <a:path w="14728235" h="1198597">
                <a:moveTo>
                  <a:pt x="0" y="0"/>
                </a:moveTo>
                <a:lnTo>
                  <a:pt x="14728234" y="0"/>
                </a:lnTo>
                <a:lnTo>
                  <a:pt x="14728234" y="1198598"/>
                </a:lnTo>
                <a:lnTo>
                  <a:pt x="0" y="1198598"/>
                </a:lnTo>
                <a:lnTo>
                  <a:pt x="0" y="0"/>
                </a:lnTo>
                <a:close/>
              </a:path>
            </a:pathLst>
          </a:custGeom>
          <a:blipFill>
            <a:blip r:embed="rId2"/>
            <a:stretch>
              <a:fillRect t="-113699" r="-10990" b="-235797"/>
            </a:stretch>
          </a:blipFill>
        </p:spPr>
      </p:sp>
      <p:grpSp>
        <p:nvGrpSpPr>
          <p:cNvPr id="18" name="Group 18"/>
          <p:cNvGrpSpPr/>
          <p:nvPr/>
        </p:nvGrpSpPr>
        <p:grpSpPr>
          <a:xfrm>
            <a:off x="29159701" y="6789472"/>
            <a:ext cx="13701502" cy="1363354"/>
            <a:chOff x="0" y="0"/>
            <a:chExt cx="16238817" cy="1615827"/>
          </a:xfrm>
        </p:grpSpPr>
        <p:sp>
          <p:nvSpPr>
            <p:cNvPr id="19" name="Freeform 19"/>
            <p:cNvSpPr/>
            <p:nvPr/>
          </p:nvSpPr>
          <p:spPr>
            <a:xfrm>
              <a:off x="0" y="0"/>
              <a:ext cx="16238855" cy="1615821"/>
            </a:xfrm>
            <a:custGeom>
              <a:avLst/>
              <a:gdLst/>
              <a:ahLst/>
              <a:cxnLst/>
              <a:rect l="l" t="t" r="r" b="b"/>
              <a:pathLst>
                <a:path w="16238855" h="1615821">
                  <a:moveTo>
                    <a:pt x="0" y="0"/>
                  </a:moveTo>
                  <a:lnTo>
                    <a:pt x="16238855" y="0"/>
                  </a:lnTo>
                  <a:lnTo>
                    <a:pt x="16238855" y="1615821"/>
                  </a:lnTo>
                  <a:lnTo>
                    <a:pt x="0" y="1615821"/>
                  </a:lnTo>
                  <a:close/>
                </a:path>
              </a:pathLst>
            </a:custGeom>
            <a:solidFill>
              <a:srgbClr val="F2A900"/>
            </a:solidFill>
          </p:spPr>
        </p:sp>
        <p:sp>
          <p:nvSpPr>
            <p:cNvPr id="20" name="TextBox 20"/>
            <p:cNvSpPr txBox="1"/>
            <p:nvPr/>
          </p:nvSpPr>
          <p:spPr>
            <a:xfrm>
              <a:off x="0" y="0"/>
              <a:ext cx="16238817" cy="1615827"/>
            </a:xfrm>
            <a:prstGeom prst="rect">
              <a:avLst/>
            </a:prstGeom>
          </p:spPr>
          <p:txBody>
            <a:bodyPr lIns="57150" tIns="57150" rIns="57150" bIns="57150" rtlCol="0" anchor="t"/>
            <a:lstStyle/>
            <a:p>
              <a:pPr algn="ctr">
                <a:lnSpc>
                  <a:spcPts val="7087"/>
                </a:lnSpc>
              </a:pPr>
              <a:r>
                <a:rPr lang="en-US" sz="5906" spc="55">
                  <a:solidFill>
                    <a:srgbClr val="000000"/>
                  </a:solidFill>
                  <a:latin typeface="TT Rounds Condensed Bold"/>
                </a:rPr>
                <a:t>Conclusions/Future Directions</a:t>
              </a:r>
            </a:p>
          </p:txBody>
        </p:sp>
      </p:grpSp>
      <p:grpSp>
        <p:nvGrpSpPr>
          <p:cNvPr id="21" name="Group 21"/>
          <p:cNvGrpSpPr/>
          <p:nvPr/>
        </p:nvGrpSpPr>
        <p:grpSpPr>
          <a:xfrm>
            <a:off x="29240833" y="8590080"/>
            <a:ext cx="13880989" cy="17066709"/>
            <a:chOff x="0" y="0"/>
            <a:chExt cx="16451543" cy="20227211"/>
          </a:xfrm>
        </p:grpSpPr>
        <p:sp>
          <p:nvSpPr>
            <p:cNvPr id="22" name="Freeform 22"/>
            <p:cNvSpPr/>
            <p:nvPr/>
          </p:nvSpPr>
          <p:spPr>
            <a:xfrm>
              <a:off x="0" y="0"/>
              <a:ext cx="16451599" cy="20227161"/>
            </a:xfrm>
            <a:custGeom>
              <a:avLst/>
              <a:gdLst/>
              <a:ahLst/>
              <a:cxnLst/>
              <a:rect l="l" t="t" r="r" b="b"/>
              <a:pathLst>
                <a:path w="16451599" h="20227161">
                  <a:moveTo>
                    <a:pt x="0" y="0"/>
                  </a:moveTo>
                  <a:lnTo>
                    <a:pt x="16451599" y="0"/>
                  </a:lnTo>
                  <a:lnTo>
                    <a:pt x="16451599" y="20227161"/>
                  </a:lnTo>
                  <a:lnTo>
                    <a:pt x="0" y="20227161"/>
                  </a:lnTo>
                  <a:close/>
                </a:path>
              </a:pathLst>
            </a:custGeom>
            <a:solidFill>
              <a:srgbClr val="FFFFFF"/>
            </a:solidFill>
          </p:spPr>
          <p:txBody>
            <a:bodyPr/>
            <a:lstStyle/>
            <a:p>
              <a:pPr marL="685800" indent="-685800">
                <a:buFont typeface="Arial" panose="020B0604020202020204" pitchFamily="34" charset="0"/>
                <a:buChar char="•"/>
              </a:pPr>
              <a:r>
                <a:rPr lang="en-US" sz="4700" b="1" dirty="0"/>
                <a:t>Qualifying</a:t>
              </a:r>
              <a:r>
                <a:rPr lang="en-US" sz="4700" dirty="0"/>
                <a:t>: Hamilton had the best mean qualifying position (4.07) with lower variability indicating higher consistency; other drivers qualified significantly worse (Alonso +4.07, Raikkonen +3.58, Vettel +2.17, Schumacher +1.59 to Hamilton; all p &lt; 0.001)..</a:t>
              </a:r>
            </a:p>
            <a:p>
              <a:pPr marL="685800" indent="-685800">
                <a:buFont typeface="Arial" panose="020B0604020202020204" pitchFamily="34" charset="0"/>
                <a:buChar char="•"/>
              </a:pPr>
              <a:r>
                <a:rPr lang="en-US" sz="4700" b="1" dirty="0"/>
                <a:t>Race Finishing</a:t>
              </a:r>
              <a:r>
                <a:rPr lang="en-US" sz="4700" dirty="0"/>
                <a:t>: Hamilton achieved the best mean finishing position (5.02); competitors finished ~2-3.5 positions worse per race on average (all p &lt; 0.001). Hamilton also showed the lowest dependence on starting grid (r = 0.244 vs. 0.31–0.52), suggesting better ability to finish first from last.</a:t>
              </a:r>
            </a:p>
            <a:p>
              <a:pPr marL="685800" indent="-685800">
                <a:buFont typeface="Arial" panose="020B0604020202020204" pitchFamily="34" charset="0"/>
                <a:buChar char="•"/>
              </a:pPr>
              <a:r>
                <a:rPr lang="en-US" sz="4700" b="1" dirty="0"/>
                <a:t>Race Pace</a:t>
              </a:r>
              <a:r>
                <a:rPr lang="en-US" sz="4700" dirty="0"/>
                <a:t>: Average lap times were similar across drivers; no statistically significant differences in race pace relative to Hamilton.</a:t>
              </a:r>
            </a:p>
            <a:p>
              <a:pPr marL="685800" indent="-685800">
                <a:buFont typeface="Arial" panose="020B0604020202020204" pitchFamily="34" charset="0"/>
                <a:buChar char="•"/>
              </a:pPr>
              <a:r>
                <a:rPr lang="en-US" sz="4700" b="1" dirty="0"/>
                <a:t>Future Directions</a:t>
              </a:r>
              <a:r>
                <a:rPr lang="en-US" sz="4700" dirty="0"/>
                <a:t>: Future analyses could control for team/car performance difference, examine trends for individual seasons, and apply mixed-effects models to better isolate driver skill from contextual factors.</a:t>
              </a:r>
            </a:p>
            <a:p>
              <a:pPr marL="685800" indent="-685800">
                <a:buFont typeface="Arial" panose="020B0604020202020204" pitchFamily="34" charset="0"/>
                <a:buChar char="•"/>
              </a:pPr>
              <a:r>
                <a:rPr lang="en-US" sz="4700" b="1" u="sng" dirty="0"/>
                <a:t>Overall Insight</a:t>
              </a:r>
              <a:r>
                <a:rPr lang="en-US" sz="4700" dirty="0"/>
                <a:t>: While race pace was comparable, Hamilton’s consistent advantage in qualifying and races finishes provide strong statistical evidence supporting his status as one of the greatest Formula 1 drivers.</a:t>
              </a:r>
            </a:p>
          </p:txBody>
        </p:sp>
        <p:sp>
          <p:nvSpPr>
            <p:cNvPr id="23" name="TextBox 23"/>
            <p:cNvSpPr txBox="1"/>
            <p:nvPr/>
          </p:nvSpPr>
          <p:spPr>
            <a:xfrm>
              <a:off x="0" y="-114300"/>
              <a:ext cx="16451543" cy="20341511"/>
            </a:xfrm>
            <a:prstGeom prst="rect">
              <a:avLst/>
            </a:prstGeom>
          </p:spPr>
          <p:txBody>
            <a:bodyPr lIns="57150" tIns="57150" rIns="57150" bIns="57150" rtlCol="0" anchor="t"/>
            <a:lstStyle/>
            <a:p>
              <a:pPr algn="l">
                <a:lnSpc>
                  <a:spcPts val="6378"/>
                </a:lnSpc>
              </a:pPr>
              <a:endParaRPr lang="en-US" sz="5315" spc="49" dirty="0">
                <a:solidFill>
                  <a:srgbClr val="000000"/>
                </a:solidFill>
                <a:latin typeface="Calibri (MS)"/>
              </a:endParaRPr>
            </a:p>
            <a:p>
              <a:pPr algn="l">
                <a:lnSpc>
                  <a:spcPts val="6378"/>
                </a:lnSpc>
              </a:pPr>
              <a:endParaRPr lang="en-US" sz="5315" spc="49" dirty="0">
                <a:solidFill>
                  <a:srgbClr val="000000"/>
                </a:solidFill>
                <a:latin typeface="Calibri (MS)"/>
              </a:endParaRPr>
            </a:p>
            <a:p>
              <a:pPr algn="l">
                <a:lnSpc>
                  <a:spcPts val="6378"/>
                </a:lnSpc>
              </a:pPr>
              <a:endParaRPr lang="en-US" sz="5315" spc="49" dirty="0">
                <a:solidFill>
                  <a:srgbClr val="000000"/>
                </a:solidFill>
                <a:latin typeface="Calibri (MS)"/>
              </a:endParaRPr>
            </a:p>
            <a:p>
              <a:pPr algn="l">
                <a:lnSpc>
                  <a:spcPts val="6378"/>
                </a:lnSpc>
              </a:pPr>
              <a:endParaRPr lang="en-US" sz="5315" spc="49" dirty="0">
                <a:solidFill>
                  <a:srgbClr val="000000"/>
                </a:solidFill>
                <a:latin typeface="Calibri (MS)"/>
              </a:endParaRPr>
            </a:p>
            <a:p>
              <a:pPr algn="l">
                <a:lnSpc>
                  <a:spcPts val="6378"/>
                </a:lnSpc>
              </a:pPr>
              <a:endParaRPr lang="en-US" sz="5315" spc="49" dirty="0">
                <a:solidFill>
                  <a:srgbClr val="000000"/>
                </a:solidFill>
                <a:latin typeface="Calibri (MS)"/>
              </a:endParaRPr>
            </a:p>
          </p:txBody>
        </p:sp>
      </p:grpSp>
      <p:sp>
        <p:nvSpPr>
          <p:cNvPr id="24" name="Freeform 24"/>
          <p:cNvSpPr/>
          <p:nvPr/>
        </p:nvSpPr>
        <p:spPr>
          <a:xfrm>
            <a:off x="28872135" y="26359343"/>
            <a:ext cx="14597573" cy="1458069"/>
          </a:xfrm>
          <a:custGeom>
            <a:avLst/>
            <a:gdLst/>
            <a:ahLst/>
            <a:cxnLst/>
            <a:rect l="l" t="t" r="r" b="b"/>
            <a:pathLst>
              <a:path w="14597573" h="1458069">
                <a:moveTo>
                  <a:pt x="0" y="0"/>
                </a:moveTo>
                <a:lnTo>
                  <a:pt x="14597573" y="0"/>
                </a:lnTo>
                <a:lnTo>
                  <a:pt x="14597573" y="1458069"/>
                </a:lnTo>
                <a:lnTo>
                  <a:pt x="0" y="1458069"/>
                </a:lnTo>
                <a:lnTo>
                  <a:pt x="0" y="0"/>
                </a:lnTo>
                <a:close/>
              </a:path>
            </a:pathLst>
          </a:custGeom>
          <a:blipFill>
            <a:blip r:embed="rId2"/>
            <a:stretch>
              <a:fillRect t="-72516" r="-9540" b="-188927"/>
            </a:stretch>
          </a:blipFill>
        </p:spPr>
      </p:sp>
      <p:grpSp>
        <p:nvGrpSpPr>
          <p:cNvPr id="25" name="Group 25"/>
          <p:cNvGrpSpPr/>
          <p:nvPr/>
        </p:nvGrpSpPr>
        <p:grpSpPr>
          <a:xfrm>
            <a:off x="29159701" y="26161614"/>
            <a:ext cx="13962122" cy="1401158"/>
            <a:chOff x="0" y="0"/>
            <a:chExt cx="16547700" cy="1660631"/>
          </a:xfrm>
        </p:grpSpPr>
        <p:sp>
          <p:nvSpPr>
            <p:cNvPr id="26" name="Freeform 26"/>
            <p:cNvSpPr/>
            <p:nvPr/>
          </p:nvSpPr>
          <p:spPr>
            <a:xfrm>
              <a:off x="0" y="0"/>
              <a:ext cx="16547739" cy="1660655"/>
            </a:xfrm>
            <a:custGeom>
              <a:avLst/>
              <a:gdLst/>
              <a:ahLst/>
              <a:cxnLst/>
              <a:rect l="l" t="t" r="r" b="b"/>
              <a:pathLst>
                <a:path w="16547739" h="1660655">
                  <a:moveTo>
                    <a:pt x="0" y="0"/>
                  </a:moveTo>
                  <a:lnTo>
                    <a:pt x="16547739" y="0"/>
                  </a:lnTo>
                  <a:lnTo>
                    <a:pt x="16547739" y="1660655"/>
                  </a:lnTo>
                  <a:lnTo>
                    <a:pt x="0" y="1660655"/>
                  </a:lnTo>
                  <a:close/>
                </a:path>
              </a:pathLst>
            </a:custGeom>
            <a:solidFill>
              <a:srgbClr val="F2A900"/>
            </a:solidFill>
          </p:spPr>
        </p:sp>
        <p:sp>
          <p:nvSpPr>
            <p:cNvPr id="27" name="TextBox 27"/>
            <p:cNvSpPr txBox="1"/>
            <p:nvPr/>
          </p:nvSpPr>
          <p:spPr>
            <a:xfrm>
              <a:off x="0" y="-123825"/>
              <a:ext cx="16547700" cy="1784456"/>
            </a:xfrm>
            <a:prstGeom prst="rect">
              <a:avLst/>
            </a:prstGeom>
          </p:spPr>
          <p:txBody>
            <a:bodyPr lIns="57150" tIns="57150" rIns="57150" bIns="57150" rtlCol="0" anchor="ctr"/>
            <a:lstStyle/>
            <a:p>
              <a:pPr algn="ctr">
                <a:lnSpc>
                  <a:spcPts val="7087"/>
                </a:lnSpc>
              </a:pPr>
              <a:r>
                <a:rPr lang="en-US" sz="5906" spc="55">
                  <a:solidFill>
                    <a:srgbClr val="000000"/>
                  </a:solidFill>
                  <a:latin typeface="Calibri (MS) Bold"/>
                </a:rPr>
                <a:t>Acknowledgements</a:t>
              </a:r>
            </a:p>
          </p:txBody>
        </p:sp>
      </p:grpSp>
      <p:grpSp>
        <p:nvGrpSpPr>
          <p:cNvPr id="29" name="Group 29"/>
          <p:cNvGrpSpPr/>
          <p:nvPr/>
        </p:nvGrpSpPr>
        <p:grpSpPr>
          <a:xfrm>
            <a:off x="14070543" y="8458200"/>
            <a:ext cx="14424507" cy="23371666"/>
            <a:chOff x="0" y="-156302"/>
            <a:chExt cx="17095713" cy="27699753"/>
          </a:xfrm>
        </p:grpSpPr>
        <p:sp>
          <p:nvSpPr>
            <p:cNvPr id="30" name="Freeform 30"/>
            <p:cNvSpPr/>
            <p:nvPr/>
          </p:nvSpPr>
          <p:spPr>
            <a:xfrm>
              <a:off x="0" y="-156302"/>
              <a:ext cx="17095713" cy="27543382"/>
            </a:xfrm>
            <a:custGeom>
              <a:avLst/>
              <a:gdLst/>
              <a:ahLst/>
              <a:cxnLst/>
              <a:rect l="l" t="t" r="r" b="b"/>
              <a:pathLst>
                <a:path w="17095713" h="27543382">
                  <a:moveTo>
                    <a:pt x="0" y="0"/>
                  </a:moveTo>
                  <a:lnTo>
                    <a:pt x="17095713" y="0"/>
                  </a:lnTo>
                  <a:lnTo>
                    <a:pt x="17095713" y="27543382"/>
                  </a:lnTo>
                  <a:lnTo>
                    <a:pt x="0" y="27543382"/>
                  </a:lnTo>
                  <a:close/>
                </a:path>
              </a:pathLst>
            </a:custGeom>
            <a:solidFill>
              <a:srgbClr val="FFFFFF"/>
            </a:solidFill>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Fig 1: Qualifying Position comparison between Hamilton, Alonso, Vettel, Schumacher and Raikkonen using a side-by-side boxplot visualization</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Fig 2: Final race finishing position comparison between Hamilton, Alonso, Vettel, Schumacher and Raikkonen using a side-by-side boxplot visualization</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Fig 3: Race Pace comparison using average lap times between Hamilton, Alonso, Vettel, Schumacher and Raikkonen using a side-by-side boxplot visualization</a:t>
              </a:r>
            </a:p>
            <a:p>
              <a:endParaRPr lang="en-US" dirty="0"/>
            </a:p>
            <a:p>
              <a:endParaRPr lang="en-US" dirty="0"/>
            </a:p>
            <a:p>
              <a:endParaRPr lang="en-US" dirty="0"/>
            </a:p>
            <a:p>
              <a:endParaRPr lang="en-US" dirty="0"/>
            </a:p>
          </p:txBody>
        </p:sp>
        <p:sp>
          <p:nvSpPr>
            <p:cNvPr id="31" name="TextBox 31"/>
            <p:cNvSpPr txBox="1"/>
            <p:nvPr/>
          </p:nvSpPr>
          <p:spPr>
            <a:xfrm>
              <a:off x="0" y="-114300"/>
              <a:ext cx="17095658" cy="27657751"/>
            </a:xfrm>
            <a:prstGeom prst="rect">
              <a:avLst/>
            </a:prstGeom>
          </p:spPr>
          <p:txBody>
            <a:bodyPr lIns="57150" tIns="57150" rIns="57150" bIns="57150" rtlCol="0" anchor="t"/>
            <a:lstStyle/>
            <a:p>
              <a:pPr algn="l">
                <a:lnSpc>
                  <a:spcPts val="6378"/>
                </a:lnSpc>
              </a:pPr>
              <a:endParaRPr lang="en-US" sz="5315" spc="47" dirty="0">
                <a:solidFill>
                  <a:srgbClr val="000000"/>
                </a:solidFill>
                <a:latin typeface="Calibri (MS)"/>
              </a:endParaRPr>
            </a:p>
            <a:p>
              <a:pPr algn="l">
                <a:lnSpc>
                  <a:spcPts val="6378"/>
                </a:lnSpc>
              </a:pPr>
              <a:endParaRPr lang="en-US" sz="5315" spc="47" dirty="0">
                <a:solidFill>
                  <a:srgbClr val="000000"/>
                </a:solidFill>
                <a:latin typeface="Calibri (MS)"/>
              </a:endParaRPr>
            </a:p>
            <a:p>
              <a:pPr algn="l">
                <a:lnSpc>
                  <a:spcPts val="6378"/>
                </a:lnSpc>
              </a:pPr>
              <a:endParaRPr lang="en-US" sz="5315" spc="47" dirty="0">
                <a:solidFill>
                  <a:srgbClr val="000000"/>
                </a:solidFill>
                <a:latin typeface="Calibri (MS)"/>
              </a:endParaRPr>
            </a:p>
            <a:p>
              <a:pPr algn="l">
                <a:lnSpc>
                  <a:spcPts val="6378"/>
                </a:lnSpc>
              </a:pPr>
              <a:endParaRPr lang="en-US" sz="5315" spc="47" dirty="0">
                <a:solidFill>
                  <a:srgbClr val="000000"/>
                </a:solidFill>
                <a:latin typeface="Calibri (MS)"/>
              </a:endParaRPr>
            </a:p>
            <a:p>
              <a:pPr algn="l">
                <a:lnSpc>
                  <a:spcPts val="6378"/>
                </a:lnSpc>
              </a:pPr>
              <a:endParaRPr lang="en-US" sz="5315" spc="47" dirty="0">
                <a:solidFill>
                  <a:srgbClr val="000000"/>
                </a:solidFill>
                <a:latin typeface="Calibri (MS)"/>
              </a:endParaRPr>
            </a:p>
            <a:p>
              <a:pPr algn="l">
                <a:lnSpc>
                  <a:spcPts val="6378"/>
                </a:lnSpc>
              </a:pPr>
              <a:endParaRPr lang="en-US" sz="5315" spc="47" dirty="0">
                <a:solidFill>
                  <a:srgbClr val="000000"/>
                </a:solidFill>
                <a:latin typeface="Calibri (MS)"/>
              </a:endParaRPr>
            </a:p>
          </p:txBody>
        </p:sp>
      </p:grpSp>
      <p:grpSp>
        <p:nvGrpSpPr>
          <p:cNvPr id="32" name="Group 32"/>
          <p:cNvGrpSpPr/>
          <p:nvPr/>
        </p:nvGrpSpPr>
        <p:grpSpPr>
          <a:xfrm>
            <a:off x="29159701" y="28066390"/>
            <a:ext cx="13962122" cy="3763476"/>
            <a:chOff x="0" y="0"/>
            <a:chExt cx="16547700" cy="4460416"/>
          </a:xfrm>
        </p:grpSpPr>
        <p:sp>
          <p:nvSpPr>
            <p:cNvPr id="33" name="Freeform 33"/>
            <p:cNvSpPr/>
            <p:nvPr/>
          </p:nvSpPr>
          <p:spPr>
            <a:xfrm>
              <a:off x="0" y="0"/>
              <a:ext cx="16547756" cy="4460406"/>
            </a:xfrm>
            <a:custGeom>
              <a:avLst/>
              <a:gdLst/>
              <a:ahLst/>
              <a:cxnLst/>
              <a:rect l="l" t="t" r="r" b="b"/>
              <a:pathLst>
                <a:path w="16547756" h="4460406">
                  <a:moveTo>
                    <a:pt x="0" y="0"/>
                  </a:moveTo>
                  <a:lnTo>
                    <a:pt x="16547756" y="0"/>
                  </a:lnTo>
                  <a:lnTo>
                    <a:pt x="16547756" y="4460406"/>
                  </a:lnTo>
                  <a:lnTo>
                    <a:pt x="0" y="4460406"/>
                  </a:lnTo>
                  <a:close/>
                </a:path>
              </a:pathLst>
            </a:custGeom>
            <a:solidFill>
              <a:srgbClr val="FFFFFF"/>
            </a:solidFill>
          </p:spPr>
        </p:sp>
        <p:sp>
          <p:nvSpPr>
            <p:cNvPr id="34" name="TextBox 34"/>
            <p:cNvSpPr txBox="1"/>
            <p:nvPr/>
          </p:nvSpPr>
          <p:spPr>
            <a:xfrm>
              <a:off x="0" y="-114300"/>
              <a:ext cx="16547700" cy="4574716"/>
            </a:xfrm>
            <a:prstGeom prst="rect">
              <a:avLst/>
            </a:prstGeom>
          </p:spPr>
          <p:txBody>
            <a:bodyPr lIns="57150" tIns="57150" rIns="57150" bIns="57150" rtlCol="0" anchor="t"/>
            <a:lstStyle/>
            <a:p>
              <a:pPr marL="685800" indent="-685800">
                <a:lnSpc>
                  <a:spcPts val="6378"/>
                </a:lnSpc>
                <a:buFont typeface="Arial" panose="020B0604020202020204" pitchFamily="34" charset="0"/>
                <a:buChar char="•"/>
              </a:pPr>
              <a:r>
                <a:rPr lang="en-US" sz="5300" spc="47" dirty="0">
                  <a:solidFill>
                    <a:srgbClr val="000000"/>
                  </a:solidFill>
                  <a:latin typeface="Calibri (MS)"/>
                </a:rPr>
                <a:t>Feedback and guidance from course instructor and teaching assistant was greatly appreciated.</a:t>
              </a:r>
            </a:p>
            <a:p>
              <a:pPr marL="685800" indent="-685800">
                <a:lnSpc>
                  <a:spcPts val="6378"/>
                </a:lnSpc>
                <a:buFont typeface="Arial" panose="020B0604020202020204" pitchFamily="34" charset="0"/>
                <a:buChar char="•"/>
              </a:pPr>
              <a:r>
                <a:rPr lang="en-US" sz="5300" spc="47" dirty="0">
                  <a:solidFill>
                    <a:srgbClr val="000000"/>
                  </a:solidFill>
                  <a:latin typeface="Calibri (MS)"/>
                </a:rPr>
                <a:t>This was part of coursework and no external funding was received.</a:t>
              </a:r>
            </a:p>
          </p:txBody>
        </p:sp>
      </p:grpSp>
      <p:grpSp>
        <p:nvGrpSpPr>
          <p:cNvPr id="35" name="Group 35"/>
          <p:cNvGrpSpPr/>
          <p:nvPr/>
        </p:nvGrpSpPr>
        <p:grpSpPr>
          <a:xfrm>
            <a:off x="1029997" y="20888819"/>
            <a:ext cx="12229688" cy="10941048"/>
            <a:chOff x="0" y="0"/>
            <a:chExt cx="14494445" cy="12967168"/>
          </a:xfrm>
        </p:grpSpPr>
        <p:sp>
          <p:nvSpPr>
            <p:cNvPr id="36" name="Freeform 36"/>
            <p:cNvSpPr/>
            <p:nvPr/>
          </p:nvSpPr>
          <p:spPr>
            <a:xfrm>
              <a:off x="0" y="0"/>
              <a:ext cx="14494500" cy="12967137"/>
            </a:xfrm>
            <a:custGeom>
              <a:avLst/>
              <a:gdLst/>
              <a:ahLst/>
              <a:cxnLst/>
              <a:rect l="l" t="t" r="r" b="b"/>
              <a:pathLst>
                <a:path w="14494500" h="12967137">
                  <a:moveTo>
                    <a:pt x="0" y="0"/>
                  </a:moveTo>
                  <a:lnTo>
                    <a:pt x="14494500" y="0"/>
                  </a:lnTo>
                  <a:lnTo>
                    <a:pt x="14494500" y="12967137"/>
                  </a:lnTo>
                  <a:lnTo>
                    <a:pt x="0" y="12967137"/>
                  </a:lnTo>
                  <a:close/>
                </a:path>
              </a:pathLst>
            </a:custGeom>
            <a:solidFill>
              <a:srgbClr val="FFFFFF"/>
            </a:solidFill>
          </p:spPr>
          <p:txBody>
            <a:bodyPr/>
            <a:lstStyle/>
            <a:p>
              <a:endParaRPr lang="en-US" dirty="0"/>
            </a:p>
          </p:txBody>
        </p:sp>
        <p:sp>
          <p:nvSpPr>
            <p:cNvPr id="37" name="TextBox 37"/>
            <p:cNvSpPr txBox="1"/>
            <p:nvPr/>
          </p:nvSpPr>
          <p:spPr>
            <a:xfrm>
              <a:off x="0" y="-114300"/>
              <a:ext cx="14494445" cy="13081468"/>
            </a:xfrm>
            <a:prstGeom prst="rect">
              <a:avLst/>
            </a:prstGeom>
          </p:spPr>
          <p:txBody>
            <a:bodyPr lIns="57150" tIns="57150" rIns="57150" bIns="57150" rtlCol="0" anchor="t"/>
            <a:lstStyle/>
            <a:p>
              <a:pPr marL="685800" indent="-685800">
                <a:lnSpc>
                  <a:spcPts val="6378"/>
                </a:lnSpc>
                <a:buFont typeface="Arial" panose="020B0604020202020204" pitchFamily="34" charset="0"/>
                <a:buChar char="•"/>
              </a:pPr>
              <a:r>
                <a:rPr lang="en-US" sz="5315" spc="47" dirty="0">
                  <a:solidFill>
                    <a:srgbClr val="000000"/>
                  </a:solidFill>
                  <a:latin typeface="Calibri (MS)"/>
                </a:rPr>
                <a:t>Used publicly available Formula 1 race data spanning from 1950 to 2024.</a:t>
              </a:r>
            </a:p>
            <a:p>
              <a:pPr marL="685800" indent="-685800">
                <a:lnSpc>
                  <a:spcPts val="6378"/>
                </a:lnSpc>
                <a:buFont typeface="Arial" panose="020B0604020202020204" pitchFamily="34" charset="0"/>
                <a:buChar char="•"/>
              </a:pPr>
              <a:r>
                <a:rPr lang="en-US" sz="5315" spc="47" dirty="0">
                  <a:solidFill>
                    <a:srgbClr val="000000"/>
                  </a:solidFill>
                  <a:latin typeface="Calibri (MS)"/>
                </a:rPr>
                <a:t>Used the four best drivers from similar eras to Hamilton.</a:t>
              </a:r>
            </a:p>
            <a:p>
              <a:pPr marL="685800" indent="-685800">
                <a:lnSpc>
                  <a:spcPts val="6378"/>
                </a:lnSpc>
                <a:buFont typeface="Arial" panose="020B0604020202020204" pitchFamily="34" charset="0"/>
                <a:buChar char="•"/>
              </a:pPr>
              <a:r>
                <a:rPr lang="en-US" sz="5315" spc="47" dirty="0">
                  <a:solidFill>
                    <a:srgbClr val="000000"/>
                  </a:solidFill>
                  <a:latin typeface="Calibri (MS)"/>
                </a:rPr>
                <a:t>Three analyses were conducted:</a:t>
              </a:r>
            </a:p>
            <a:p>
              <a:pPr marL="1143000" lvl="1" indent="-685800">
                <a:lnSpc>
                  <a:spcPts val="6378"/>
                </a:lnSpc>
                <a:buFont typeface="Arial" panose="020B0604020202020204" pitchFamily="34" charset="0"/>
                <a:buChar char="•"/>
              </a:pPr>
              <a:r>
                <a:rPr lang="en-US" sz="5315" spc="47" dirty="0">
                  <a:solidFill>
                    <a:srgbClr val="000000"/>
                  </a:solidFill>
                  <a:latin typeface="Calibri (MS)"/>
                </a:rPr>
                <a:t>Comparison of qualifying position using OLS regression.</a:t>
              </a:r>
            </a:p>
            <a:p>
              <a:pPr marL="1143000" lvl="1" indent="-685800">
                <a:lnSpc>
                  <a:spcPts val="6378"/>
                </a:lnSpc>
                <a:buFont typeface="Arial" panose="020B0604020202020204" pitchFamily="34" charset="0"/>
                <a:buChar char="•"/>
              </a:pPr>
              <a:r>
                <a:rPr lang="en-US" sz="5315" spc="47" dirty="0">
                  <a:solidFill>
                    <a:srgbClr val="000000"/>
                  </a:solidFill>
                  <a:latin typeface="Calibri (MS)"/>
                </a:rPr>
                <a:t>Comparison of race finish position and its dependence on starting grid using regression and Pearson correlation.</a:t>
              </a:r>
            </a:p>
            <a:p>
              <a:pPr marL="1143000" lvl="1" indent="-685800">
                <a:lnSpc>
                  <a:spcPts val="6378"/>
                </a:lnSpc>
                <a:buFont typeface="Arial" panose="020B0604020202020204" pitchFamily="34" charset="0"/>
                <a:buChar char="•"/>
              </a:pPr>
              <a:r>
                <a:rPr lang="en-US" sz="5315" spc="47" dirty="0">
                  <a:solidFill>
                    <a:srgbClr val="000000"/>
                  </a:solidFill>
                  <a:latin typeface="Calibri (MS)"/>
                </a:rPr>
                <a:t>Comparison of race pace by computing average lap time per race, adjusted for incomplete races with OLS regression.</a:t>
              </a:r>
            </a:p>
            <a:p>
              <a:pPr marL="685800" indent="-685800">
                <a:lnSpc>
                  <a:spcPts val="6378"/>
                </a:lnSpc>
                <a:buFont typeface="Arial" panose="020B0604020202020204" pitchFamily="34" charset="0"/>
                <a:buChar char="•"/>
              </a:pPr>
              <a:endParaRPr lang="en-US" sz="5315" spc="47" dirty="0">
                <a:solidFill>
                  <a:srgbClr val="000000"/>
                </a:solidFill>
                <a:latin typeface="Calibri (MS)"/>
              </a:endParaRPr>
            </a:p>
            <a:p>
              <a:pPr marL="685800" indent="-685800">
                <a:lnSpc>
                  <a:spcPts val="6378"/>
                </a:lnSpc>
                <a:buFont typeface="Arial" panose="020B0604020202020204" pitchFamily="34" charset="0"/>
                <a:buChar char="•"/>
              </a:pPr>
              <a:endParaRPr lang="en-US" sz="5315" spc="47" dirty="0">
                <a:solidFill>
                  <a:srgbClr val="000000"/>
                </a:solidFill>
                <a:latin typeface="Calibri (MS)"/>
              </a:endParaRPr>
            </a:p>
          </p:txBody>
        </p:sp>
      </p:grpSp>
      <p:grpSp>
        <p:nvGrpSpPr>
          <p:cNvPr id="38" name="Group 38"/>
          <p:cNvGrpSpPr/>
          <p:nvPr/>
        </p:nvGrpSpPr>
        <p:grpSpPr>
          <a:xfrm>
            <a:off x="1029997" y="8581611"/>
            <a:ext cx="12229688" cy="10063282"/>
            <a:chOff x="0" y="0"/>
            <a:chExt cx="14494445" cy="11926852"/>
          </a:xfrm>
        </p:grpSpPr>
        <p:sp>
          <p:nvSpPr>
            <p:cNvPr id="39" name="Freeform 39"/>
            <p:cNvSpPr/>
            <p:nvPr/>
          </p:nvSpPr>
          <p:spPr>
            <a:xfrm>
              <a:off x="0" y="0"/>
              <a:ext cx="14494500" cy="11926823"/>
            </a:xfrm>
            <a:custGeom>
              <a:avLst/>
              <a:gdLst/>
              <a:ahLst/>
              <a:cxnLst/>
              <a:rect l="l" t="t" r="r" b="b"/>
              <a:pathLst>
                <a:path w="14494500" h="11926823">
                  <a:moveTo>
                    <a:pt x="0" y="0"/>
                  </a:moveTo>
                  <a:lnTo>
                    <a:pt x="14494500" y="0"/>
                  </a:lnTo>
                  <a:lnTo>
                    <a:pt x="14494500" y="11926823"/>
                  </a:lnTo>
                  <a:lnTo>
                    <a:pt x="0" y="11926823"/>
                  </a:lnTo>
                  <a:close/>
                </a:path>
              </a:pathLst>
            </a:custGeom>
            <a:solidFill>
              <a:srgbClr val="FFFFFF"/>
            </a:solidFill>
          </p:spPr>
        </p:sp>
        <p:sp>
          <p:nvSpPr>
            <p:cNvPr id="40" name="TextBox 40"/>
            <p:cNvSpPr txBox="1"/>
            <p:nvPr/>
          </p:nvSpPr>
          <p:spPr>
            <a:xfrm>
              <a:off x="0" y="-114300"/>
              <a:ext cx="14494445" cy="12041152"/>
            </a:xfrm>
            <a:prstGeom prst="rect">
              <a:avLst/>
            </a:prstGeom>
          </p:spPr>
          <p:txBody>
            <a:bodyPr lIns="57150" tIns="57150" rIns="57150" bIns="57150" rtlCol="0" anchor="t"/>
            <a:lstStyle/>
            <a:p>
              <a:pPr marL="685800" indent="-685800">
                <a:lnSpc>
                  <a:spcPts val="6378"/>
                </a:lnSpc>
                <a:buFont typeface="Arial" panose="020B0604020202020204" pitchFamily="34" charset="0"/>
                <a:buChar char="•"/>
              </a:pPr>
              <a:r>
                <a:rPr lang="en-US" sz="5315" b="1" spc="47" dirty="0">
                  <a:solidFill>
                    <a:srgbClr val="000000"/>
                  </a:solidFill>
                  <a:latin typeface="Calibri (MS)"/>
                </a:rPr>
                <a:t>Research question</a:t>
              </a:r>
              <a:r>
                <a:rPr lang="en-US" sz="5315" spc="47" dirty="0">
                  <a:solidFill>
                    <a:srgbClr val="000000"/>
                  </a:solidFill>
                  <a:latin typeface="Calibri (MS)"/>
                </a:rPr>
                <a:t>: Is Hamilton’s performance better than other drivers in terms of qualifying and race position and average lap times over a race?</a:t>
              </a:r>
            </a:p>
            <a:p>
              <a:pPr marL="685800" indent="-685800">
                <a:lnSpc>
                  <a:spcPts val="6378"/>
                </a:lnSpc>
                <a:buFont typeface="Arial" panose="020B0604020202020204" pitchFamily="34" charset="0"/>
                <a:buChar char="•"/>
              </a:pPr>
              <a:r>
                <a:rPr lang="en-US" sz="5315" spc="47" dirty="0">
                  <a:solidFill>
                    <a:srgbClr val="000000"/>
                  </a:solidFill>
                  <a:latin typeface="Calibri (MS)"/>
                </a:rPr>
                <a:t>Motivated by a long-standing interest in </a:t>
              </a:r>
              <a:r>
                <a:rPr lang="en-US" sz="5315" spc="47">
                  <a:solidFill>
                    <a:srgbClr val="000000"/>
                  </a:solidFill>
                  <a:latin typeface="Calibri (MS)"/>
                </a:rPr>
                <a:t>Formula 1.</a:t>
              </a:r>
              <a:endParaRPr lang="en-US" sz="5315" spc="47" dirty="0">
                <a:solidFill>
                  <a:srgbClr val="000000"/>
                </a:solidFill>
                <a:latin typeface="Calibri (MS)"/>
              </a:endParaRPr>
            </a:p>
            <a:p>
              <a:pPr marL="685800" indent="-685800">
                <a:lnSpc>
                  <a:spcPts val="6378"/>
                </a:lnSpc>
                <a:buFont typeface="Arial" panose="020B0604020202020204" pitchFamily="34" charset="0"/>
                <a:buChar char="•"/>
              </a:pPr>
              <a:r>
                <a:rPr lang="en-US" sz="5315" spc="47" dirty="0">
                  <a:solidFill>
                    <a:srgbClr val="000000"/>
                  </a:solidFill>
                  <a:latin typeface="Calibri (MS)"/>
                </a:rPr>
                <a:t>Previous driver comparisons often focus on outcomes (driver championships) but rarely use statistics to compare factors such as consistency and race pace, which can control for externalities and determine true driver ability.</a:t>
              </a:r>
            </a:p>
            <a:p>
              <a:pPr>
                <a:lnSpc>
                  <a:spcPts val="6378"/>
                </a:lnSpc>
              </a:pPr>
              <a:endParaRPr lang="en-US" sz="5315" spc="47" dirty="0">
                <a:solidFill>
                  <a:srgbClr val="000000"/>
                </a:solidFill>
                <a:latin typeface="Calibri (MS)"/>
              </a:endParaRPr>
            </a:p>
            <a:p>
              <a:pPr algn="l">
                <a:lnSpc>
                  <a:spcPts val="6378"/>
                </a:lnSpc>
              </a:pPr>
              <a:endParaRPr lang="en-US" sz="5315" spc="47" dirty="0">
                <a:solidFill>
                  <a:srgbClr val="000000"/>
                </a:solidFill>
                <a:latin typeface="Calibri (MS)"/>
              </a:endParaRPr>
            </a:p>
          </p:txBody>
        </p:sp>
      </p:grpSp>
      <p:sp>
        <p:nvSpPr>
          <p:cNvPr id="41" name="TextBox 41"/>
          <p:cNvSpPr txBox="1"/>
          <p:nvPr/>
        </p:nvSpPr>
        <p:spPr>
          <a:xfrm>
            <a:off x="7162800" y="917867"/>
            <a:ext cx="35698403" cy="4462760"/>
          </a:xfrm>
          <a:prstGeom prst="rect">
            <a:avLst/>
          </a:prstGeom>
        </p:spPr>
        <p:txBody>
          <a:bodyPr wrap="square" lIns="0" tIns="0" rIns="0" bIns="0" rtlCol="0" anchor="t">
            <a:spAutoFit/>
          </a:bodyPr>
          <a:lstStyle/>
          <a:p>
            <a:pPr algn="ctr">
              <a:lnSpc>
                <a:spcPts val="18630"/>
              </a:lnSpc>
            </a:pPr>
            <a:r>
              <a:rPr lang="en-US" sz="8800" spc="145" dirty="0">
                <a:solidFill>
                  <a:srgbClr val="FFFFFF"/>
                </a:solidFill>
                <a:latin typeface="Calibri (MS) Bold"/>
              </a:rPr>
              <a:t>Is Lewis Hamilton the Greatest Formula 1 Driver? A Data-Driven Analysis</a:t>
            </a:r>
          </a:p>
          <a:p>
            <a:pPr algn="ctr">
              <a:lnSpc>
                <a:spcPts val="8100"/>
              </a:lnSpc>
            </a:pPr>
            <a:r>
              <a:rPr lang="en-US" sz="6750" spc="63" dirty="0" err="1">
                <a:solidFill>
                  <a:srgbClr val="FFFFFF"/>
                </a:solidFill>
                <a:latin typeface="Calibri (MS) Bold"/>
              </a:rPr>
              <a:t>Tej</a:t>
            </a:r>
            <a:r>
              <a:rPr lang="en-US" sz="6750" spc="63" dirty="0">
                <a:solidFill>
                  <a:srgbClr val="FFFFFF"/>
                </a:solidFill>
                <a:latin typeface="Calibri (MS) Bold"/>
              </a:rPr>
              <a:t> Shah</a:t>
            </a:r>
          </a:p>
          <a:p>
            <a:pPr algn="ctr">
              <a:lnSpc>
                <a:spcPts val="8100"/>
              </a:lnSpc>
            </a:pPr>
            <a:r>
              <a:rPr lang="en-US" sz="6750" spc="63" dirty="0">
                <a:solidFill>
                  <a:srgbClr val="FFFFFF"/>
                </a:solidFill>
                <a:latin typeface="Calibri (MS) Bold"/>
              </a:rPr>
              <a:t>Emory University </a:t>
            </a:r>
          </a:p>
        </p:txBody>
      </p:sp>
      <p:pic>
        <p:nvPicPr>
          <p:cNvPr id="1034" name="Picture 10" descr="Emory University">
            <a:extLst>
              <a:ext uri="{FF2B5EF4-FFF2-40B4-BE49-F238E27FC236}">
                <a16:creationId xmlns:a16="http://schemas.microsoft.com/office/drawing/2014/main" id="{BDA89D71-D768-C919-8F42-4E997C2C769A}"/>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colorTemperature colorTemp="59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1029997" y="557450"/>
            <a:ext cx="5740509" cy="5740509"/>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7E915B32-DAE0-CCB7-690C-0E755E15B2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33085" y="15849600"/>
            <a:ext cx="13884715" cy="6829474"/>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EE9EA1B2-FC8D-CD24-ED00-FA07B4BD021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330249" y="23447466"/>
            <a:ext cx="13884715" cy="6829474"/>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a:extLst>
              <a:ext uri="{FF2B5EF4-FFF2-40B4-BE49-F238E27FC236}">
                <a16:creationId xmlns:a16="http://schemas.microsoft.com/office/drawing/2014/main" id="{191A7FF5-7031-8A28-F115-16A43F867D8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42557" y="8581553"/>
            <a:ext cx="13837913" cy="67777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TotalTime>
  <Words>502</Words>
  <Application>Microsoft Macintosh PowerPoint</Application>
  <PresentationFormat>Custom</PresentationFormat>
  <Paragraphs>119</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 (MS) Bold</vt:lpstr>
      <vt:lpstr>TT Rounds Condensed Bold</vt:lpstr>
      <vt:lpstr>Calibri (MS)</vt:lpstr>
      <vt:lpstr>Calibri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URP Poster Template</dc:title>
  <cp:lastModifiedBy>Shah, Tej</cp:lastModifiedBy>
  <cp:revision>11</cp:revision>
  <dcterms:created xsi:type="dcterms:W3CDTF">2006-08-16T00:00:00Z</dcterms:created>
  <dcterms:modified xsi:type="dcterms:W3CDTF">2025-12-12T21:08:35Z</dcterms:modified>
  <dc:identifier>DAGA6orcGMY</dc:identifier>
</cp:coreProperties>
</file>